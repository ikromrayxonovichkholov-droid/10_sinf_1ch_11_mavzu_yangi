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71" autoAdjust="0"/>
    <p:restoredTop sz="94660"/>
  </p:normalViewPr>
  <p:slideViewPr>
    <p:cSldViewPr snapToGrid="0">
      <p:cViewPr>
        <p:scale>
          <a:sx n="68" d="100"/>
          <a:sy n="68" d="100"/>
        </p:scale>
        <p:origin x="7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26-Aug-26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26-Aug-26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26-Aug-26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26-Aug-26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26-Aug-26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26-Aug-26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26-Aug-26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26-Aug-26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26-Aug-26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26-Aug-26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26-Aug-26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26-Aug-26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26-Aug-26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26-Aug-26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26-Aug-26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26-Aug-26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26-Aug-26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26-Aug-26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8803545-BE61-438F-A57A-93F62E7F31E6}"/>
              </a:ext>
            </a:extLst>
          </p:cNvPr>
          <p:cNvSpPr/>
          <p:nvPr/>
        </p:nvSpPr>
        <p:spPr>
          <a:xfrm>
            <a:off x="3289111" y="332881"/>
            <a:ext cx="865886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5400" b="1" cap="none" spc="0" dirty="0">
                <a:ln/>
                <a:solidFill>
                  <a:schemeClr val="accent4"/>
                </a:solidFill>
                <a:effectLst/>
              </a:rPr>
              <a:t>KIRISH:</a:t>
            </a:r>
            <a:endParaRPr lang="ru-RU" sz="5400" b="1" cap="none" spc="0" dirty="0">
              <a:ln/>
              <a:solidFill>
                <a:schemeClr val="accent4"/>
              </a:solidFill>
              <a:effectLst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51ACD97-78AC-498A-A6C2-AFC0F8ECB48E}"/>
              </a:ext>
            </a:extLst>
          </p:cNvPr>
          <p:cNvSpPr/>
          <p:nvPr/>
        </p:nvSpPr>
        <p:spPr>
          <a:xfrm>
            <a:off x="5577840" y="1139756"/>
            <a:ext cx="556915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Kitobingizni</a:t>
            </a:r>
            <a:r>
              <a:rPr lang="en-US" sz="2400" b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7-9-sahifasida </a:t>
            </a:r>
            <a:r>
              <a:rPr lang="en-US" sz="2400" b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berilgan</a:t>
            </a:r>
            <a:r>
              <a:rPr lang="en-US" sz="2400" b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lang="ru-RU" sz="2400" b="1" cap="none" spc="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5A36AF-1367-41B3-9D8E-E0A132552D74}"/>
              </a:ext>
            </a:extLst>
          </p:cNvPr>
          <p:cNvSpPr txBox="1"/>
          <p:nvPr/>
        </p:nvSpPr>
        <p:spPr>
          <a:xfrm>
            <a:off x="1834486" y="1532483"/>
            <a:ext cx="989430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/>
              <a:t>DASTURLASHNING ASOSIY TUSHUNCHALARI.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A8D2965-ED3E-4C7D-ADFF-5E83B85DFE09}"/>
              </a:ext>
            </a:extLst>
          </p:cNvPr>
          <p:cNvSpPr/>
          <p:nvPr/>
        </p:nvSpPr>
        <p:spPr>
          <a:xfrm>
            <a:off x="122011" y="2748310"/>
            <a:ext cx="11947978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KOMPYUTER DASTURINI YARATISHNING ILK BOSQICHLARI </a:t>
            </a:r>
            <a:r>
              <a:rPr lang="en-US" sz="2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REJALASHTIRISH 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VA  </a:t>
            </a:r>
            <a:r>
              <a:rPr lang="en-US" sz="2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LOYIHALASH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DAN IBORAT.BU BOSQICHLAR ODATDA </a:t>
            </a:r>
            <a:r>
              <a:rPr lang="en-US" sz="24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DASTUR YARATISH SIKLI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ASOSIDA AMALGA OSHIRILADI.</a:t>
            </a:r>
            <a:endParaRPr lang="ru-RU" sz="24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D8AF983-B99E-4982-BE8E-584C7720B93F}"/>
              </a:ext>
            </a:extLst>
          </p:cNvPr>
          <p:cNvSpPr/>
          <p:nvPr/>
        </p:nvSpPr>
        <p:spPr>
          <a:xfrm>
            <a:off x="417202" y="3448923"/>
            <a:ext cx="11357596" cy="267765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just"/>
            <a:r>
              <a:rPr lang="en-US" sz="2800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Dastur </a:t>
            </a:r>
            <a:r>
              <a:rPr lang="en-US" sz="2800" dirty="0" err="1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yaratish</a:t>
            </a:r>
            <a:r>
              <a:rPr lang="en-US" sz="2800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2800" dirty="0" err="1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sikli</a:t>
            </a:r>
            <a:r>
              <a:rPr lang="en-US" sz="2800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dasturni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yaxshilash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imkonini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beruvchi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tizimli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amallar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yig`indisidir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. Bu </a:t>
            </a: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tizimli</a:t>
            </a:r>
            <a:endParaRPr lang="en-US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gency FB" panose="020B0503020202020204" pitchFamily="34" charset="0"/>
            </a:endParaRPr>
          </a:p>
          <a:p>
            <a:pPr algn="just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amallar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 </a:t>
            </a: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quyidagilardan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iborat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:</a:t>
            </a:r>
          </a:p>
          <a:p>
            <a:pPr marL="1828800" algn="just">
              <a:buFont typeface="Wingdings" panose="05000000000000000000" pitchFamily="2" charset="2"/>
              <a:buChar char="Ø"/>
            </a:pP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Dasturni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rejalashtirish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.</a:t>
            </a:r>
          </a:p>
          <a:p>
            <a:pPr marL="1828800" algn="just">
              <a:buFont typeface="Wingdings" panose="05000000000000000000" pitchFamily="2" charset="2"/>
              <a:buChar char="Ø"/>
            </a:pP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Dasturni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loyihalash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.</a:t>
            </a:r>
          </a:p>
          <a:p>
            <a:pPr marL="1828800" algn="just">
              <a:buFont typeface="Wingdings" panose="05000000000000000000" pitchFamily="2" charset="2"/>
              <a:buChar char="Ø"/>
            </a:pP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Dasturni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yaratish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–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ishlab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chiqish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.</a:t>
            </a:r>
          </a:p>
          <a:p>
            <a:pPr marL="1828800" algn="just">
              <a:buFont typeface="Wingdings" panose="05000000000000000000" pitchFamily="2" charset="2"/>
              <a:buChar char="Ø"/>
            </a:pP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Dasturni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sinovdan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o`tkazish</a:t>
            </a: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.</a:t>
            </a:r>
            <a:endParaRPr lang="ru-RU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309741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8803545-BE61-438F-A57A-93F62E7F31E6}"/>
              </a:ext>
            </a:extLst>
          </p:cNvPr>
          <p:cNvSpPr/>
          <p:nvPr/>
        </p:nvSpPr>
        <p:spPr>
          <a:xfrm>
            <a:off x="7198296" y="161073"/>
            <a:ext cx="243047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5400" b="1" dirty="0">
                <a:ln/>
                <a:solidFill>
                  <a:schemeClr val="accent4"/>
                </a:solidFill>
              </a:rPr>
              <a:t>KIRISH:</a:t>
            </a:r>
            <a:endParaRPr lang="ru-RU" sz="5400" b="1" dirty="0">
              <a:ln/>
              <a:solidFill>
                <a:schemeClr val="accent4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6998926-62A1-417E-9E74-216941FB3D1E}"/>
              </a:ext>
            </a:extLst>
          </p:cNvPr>
          <p:cNvSpPr/>
          <p:nvPr/>
        </p:nvSpPr>
        <p:spPr>
          <a:xfrm>
            <a:off x="271318" y="1340013"/>
            <a:ext cx="11649364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457200" indent="-457200" algn="just">
              <a:buFont typeface="+mj-lt"/>
              <a:buAutoNum type="arabicParenR"/>
            </a:pPr>
            <a:endParaRPr 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 algn="just">
              <a:buFont typeface="+mj-lt"/>
              <a:buAutoNum type="arabicParenR"/>
            </a:pPr>
            <a:endParaRPr lang="en-US" sz="24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074CF57-3737-4A61-8784-F151598BDD81}"/>
              </a:ext>
            </a:extLst>
          </p:cNvPr>
          <p:cNvSpPr/>
          <p:nvPr/>
        </p:nvSpPr>
        <p:spPr>
          <a:xfrm>
            <a:off x="5640178" y="888117"/>
            <a:ext cx="55467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Kitobingizni</a:t>
            </a:r>
            <a:r>
              <a:rPr lang="en-US" sz="2400" b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7-9-sahifasida </a:t>
            </a:r>
            <a:r>
              <a:rPr lang="en-US" sz="2400" b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berilgan</a:t>
            </a:r>
            <a:r>
              <a:rPr lang="en-US" b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lang="ru-RU" b="1" cap="none" spc="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669D8CF-9DB3-4D24-9D23-057074D2AE60}"/>
              </a:ext>
            </a:extLst>
          </p:cNvPr>
          <p:cNvSpPr/>
          <p:nvPr/>
        </p:nvSpPr>
        <p:spPr>
          <a:xfrm>
            <a:off x="2564413" y="1376411"/>
            <a:ext cx="7173760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Dasturni</a:t>
            </a:r>
            <a:r>
              <a:rPr lang="en-US" sz="3200" b="1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3200" b="1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rejalashtirish</a:t>
            </a:r>
            <a:r>
              <a:rPr lang="en-US" sz="3200" b="1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3200" b="1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quyidagilarni</a:t>
            </a:r>
            <a:r>
              <a:rPr lang="en-US" sz="3200" b="1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</a:p>
          <a:p>
            <a:pPr algn="ctr"/>
            <a:r>
              <a:rPr lang="en-US" sz="3200" b="1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o`z</a:t>
            </a:r>
            <a:r>
              <a:rPr lang="en-US" sz="3200" b="1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3200" b="1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ichiga</a:t>
            </a:r>
            <a:r>
              <a:rPr lang="en-US" sz="3200" b="1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3200" b="1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oladi</a:t>
            </a:r>
            <a:r>
              <a:rPr lang="en-US" sz="3200" b="1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:</a:t>
            </a:r>
            <a:endParaRPr lang="ru-RU" sz="3200" b="1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C969CED-EF90-499D-86B7-D9145EC59313}"/>
              </a:ext>
            </a:extLst>
          </p:cNvPr>
          <p:cNvSpPr/>
          <p:nvPr/>
        </p:nvSpPr>
        <p:spPr>
          <a:xfrm>
            <a:off x="271318" y="2274838"/>
            <a:ext cx="11920682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571500" indent="-571500" algn="just">
              <a:buFont typeface="Wingdings" panose="05000000000000000000" pitchFamily="2" charset="2"/>
              <a:buChar char="Ø"/>
            </a:pPr>
            <a:r>
              <a:rPr lang="en-US" sz="3600" cap="none" spc="0" dirty="0" err="1">
                <a:ln/>
                <a:solidFill>
                  <a:schemeClr val="accent4"/>
                </a:solidFill>
                <a:effectLst/>
                <a:latin typeface="Agency FB" panose="020B0503020202020204" pitchFamily="34" charset="0"/>
              </a:rPr>
              <a:t>dastur</a:t>
            </a:r>
            <a:r>
              <a:rPr lang="en-US" sz="3600" cap="none" spc="0" dirty="0">
                <a:ln/>
                <a:solidFill>
                  <a:schemeClr val="accent4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lang="en-US" sz="3600" cap="none" spc="0" dirty="0" err="1">
                <a:ln/>
                <a:solidFill>
                  <a:schemeClr val="accent4"/>
                </a:solidFill>
                <a:effectLst/>
                <a:latin typeface="Agency FB" panose="020B0503020202020204" pitchFamily="34" charset="0"/>
              </a:rPr>
              <a:t>vazifasini</a:t>
            </a:r>
            <a:r>
              <a:rPr lang="en-US" sz="3600" cap="none" spc="0" dirty="0">
                <a:ln/>
                <a:solidFill>
                  <a:schemeClr val="accent4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lang="en-US" sz="3600" cap="none" spc="0" dirty="0" err="1">
                <a:ln/>
                <a:solidFill>
                  <a:schemeClr val="accent4"/>
                </a:solidFill>
                <a:effectLst/>
                <a:latin typeface="Agency FB" panose="020B0503020202020204" pitchFamily="34" charset="0"/>
              </a:rPr>
              <a:t>aniqlash</a:t>
            </a:r>
            <a:r>
              <a:rPr lang="en-US" sz="3600" cap="none" spc="0" dirty="0">
                <a:ln/>
                <a:solidFill>
                  <a:schemeClr val="accent4"/>
                </a:solidFill>
                <a:effectLst/>
                <a:latin typeface="Agency FB" panose="020B0503020202020204" pitchFamily="34" charset="0"/>
              </a:rPr>
              <a:t>;</a:t>
            </a:r>
          </a:p>
          <a:p>
            <a:pPr marL="571500" indent="-571500" algn="just">
              <a:buFont typeface="Wingdings" panose="05000000000000000000" pitchFamily="2" charset="2"/>
              <a:buChar char="Ø"/>
            </a:pPr>
            <a:r>
              <a:rPr lang="en-US" sz="3600" dirty="0" err="1">
                <a:ln/>
                <a:solidFill>
                  <a:schemeClr val="accent4"/>
                </a:solidFill>
                <a:latin typeface="Agency FB" panose="020B0503020202020204" pitchFamily="34" charset="0"/>
              </a:rPr>
              <a:t>dasturchilar</a:t>
            </a:r>
            <a:r>
              <a:rPr lang="en-US" sz="3600" dirty="0">
                <a:ln/>
                <a:solidFill>
                  <a:schemeClr val="accent4"/>
                </a:solidFill>
                <a:latin typeface="Agency FB" panose="020B0503020202020204" pitchFamily="34" charset="0"/>
              </a:rPr>
              <a:t>(</a:t>
            </a:r>
            <a:r>
              <a:rPr lang="en-US" sz="3600" dirty="0" err="1">
                <a:ln/>
                <a:solidFill>
                  <a:schemeClr val="accent4"/>
                </a:solidFill>
                <a:latin typeface="Agency FB" panose="020B0503020202020204" pitchFamily="34" charset="0"/>
              </a:rPr>
              <a:t>dastur</a:t>
            </a:r>
            <a:r>
              <a:rPr lang="en-US" sz="3600" dirty="0">
                <a:ln/>
                <a:solidFill>
                  <a:schemeClr val="accent4"/>
                </a:solidFill>
                <a:latin typeface="Agency FB" panose="020B0503020202020204" pitchFamily="34" charset="0"/>
              </a:rPr>
              <a:t> </a:t>
            </a:r>
            <a:r>
              <a:rPr lang="en-US" sz="3600" dirty="0" err="1">
                <a:ln/>
                <a:solidFill>
                  <a:schemeClr val="accent4"/>
                </a:solidFill>
                <a:latin typeface="Agency FB" panose="020B0503020202020204" pitchFamily="34" charset="0"/>
              </a:rPr>
              <a:t>ustida</a:t>
            </a:r>
            <a:r>
              <a:rPr lang="en-US" sz="3600" dirty="0">
                <a:ln/>
                <a:solidFill>
                  <a:schemeClr val="accent4"/>
                </a:solidFill>
                <a:latin typeface="Agency FB" panose="020B0503020202020204" pitchFamily="34" charset="0"/>
              </a:rPr>
              <a:t>  </a:t>
            </a:r>
            <a:r>
              <a:rPr lang="en-US" sz="3600" dirty="0" err="1">
                <a:ln/>
                <a:solidFill>
                  <a:schemeClr val="accent4"/>
                </a:solidFill>
                <a:latin typeface="Agency FB" panose="020B0503020202020204" pitchFamily="34" charset="0"/>
              </a:rPr>
              <a:t>ishlayotgan</a:t>
            </a:r>
            <a:r>
              <a:rPr lang="en-US" sz="3600" dirty="0">
                <a:ln/>
                <a:solidFill>
                  <a:schemeClr val="accent4"/>
                </a:solidFill>
                <a:latin typeface="Agency FB" panose="020B0503020202020204" pitchFamily="34" charset="0"/>
              </a:rPr>
              <a:t> </a:t>
            </a:r>
            <a:r>
              <a:rPr lang="en-US" sz="3600" dirty="0" err="1">
                <a:ln/>
                <a:solidFill>
                  <a:schemeClr val="accent4"/>
                </a:solidFill>
                <a:latin typeface="Agency FB" panose="020B0503020202020204" pitchFamily="34" charset="0"/>
              </a:rPr>
              <a:t>jamoa</a:t>
            </a:r>
            <a:r>
              <a:rPr lang="en-US" sz="3600" dirty="0">
                <a:ln/>
                <a:solidFill>
                  <a:schemeClr val="accent4"/>
                </a:solidFill>
                <a:latin typeface="Agency FB" panose="020B0503020202020204" pitchFamily="34" charset="0"/>
              </a:rPr>
              <a:t>)ga </a:t>
            </a:r>
            <a:r>
              <a:rPr lang="en-US" sz="3600" dirty="0" err="1">
                <a:ln/>
                <a:solidFill>
                  <a:schemeClr val="accent4"/>
                </a:solidFill>
                <a:latin typeface="Agency FB" panose="020B0503020202020204" pitchFamily="34" charset="0"/>
              </a:rPr>
              <a:t>dastur</a:t>
            </a:r>
            <a:r>
              <a:rPr lang="en-US" sz="3600" dirty="0">
                <a:ln/>
                <a:solidFill>
                  <a:schemeClr val="accent4"/>
                </a:solidFill>
                <a:latin typeface="Agency FB" panose="020B0503020202020204" pitchFamily="34" charset="0"/>
              </a:rPr>
              <a:t> </a:t>
            </a:r>
            <a:r>
              <a:rPr lang="en-US" sz="3600" dirty="0" err="1">
                <a:ln/>
                <a:solidFill>
                  <a:schemeClr val="accent4"/>
                </a:solidFill>
                <a:latin typeface="Agency FB" panose="020B0503020202020204" pitchFamily="34" charset="0"/>
              </a:rPr>
              <a:t>talablarini</a:t>
            </a:r>
            <a:r>
              <a:rPr lang="en-US" sz="3600" dirty="0">
                <a:ln/>
                <a:solidFill>
                  <a:schemeClr val="accent4"/>
                </a:solidFill>
                <a:latin typeface="Agency FB" panose="020B0503020202020204" pitchFamily="34" charset="0"/>
              </a:rPr>
              <a:t> </a:t>
            </a:r>
            <a:r>
              <a:rPr lang="en-US" sz="3600" dirty="0" err="1">
                <a:ln/>
                <a:solidFill>
                  <a:schemeClr val="accent4"/>
                </a:solidFill>
                <a:latin typeface="Agency FB" panose="020B0503020202020204" pitchFamily="34" charset="0"/>
              </a:rPr>
              <a:t>to`liq</a:t>
            </a:r>
            <a:r>
              <a:rPr lang="en-US" sz="3600" dirty="0">
                <a:ln/>
                <a:solidFill>
                  <a:schemeClr val="accent4"/>
                </a:solidFill>
                <a:latin typeface="Agency FB" panose="020B0503020202020204" pitchFamily="34" charset="0"/>
              </a:rPr>
              <a:t> </a:t>
            </a:r>
            <a:r>
              <a:rPr lang="en-US" sz="3600" dirty="0" err="1">
                <a:ln/>
                <a:solidFill>
                  <a:schemeClr val="accent4"/>
                </a:solidFill>
                <a:latin typeface="Agency FB" panose="020B0503020202020204" pitchFamily="34" charset="0"/>
              </a:rPr>
              <a:t>tushuntirish</a:t>
            </a:r>
            <a:r>
              <a:rPr lang="en-US" sz="3600" dirty="0">
                <a:ln/>
                <a:solidFill>
                  <a:schemeClr val="accent4"/>
                </a:solidFill>
                <a:latin typeface="Agency FB" panose="020B0503020202020204" pitchFamily="34" charset="0"/>
              </a:rPr>
              <a:t>;</a:t>
            </a:r>
          </a:p>
          <a:p>
            <a:pPr marL="571500" indent="-571500" algn="just">
              <a:buFont typeface="Wingdings" panose="05000000000000000000" pitchFamily="2" charset="2"/>
              <a:buChar char="Ø"/>
            </a:pPr>
            <a:r>
              <a:rPr lang="en-US" sz="3600" cap="none" spc="0" dirty="0" err="1">
                <a:ln/>
                <a:solidFill>
                  <a:schemeClr val="accent4"/>
                </a:solidFill>
                <a:effectLst/>
                <a:latin typeface="Agency FB" panose="020B0503020202020204" pitchFamily="34" charset="0"/>
              </a:rPr>
              <a:t>Buyurtmachilarning</a:t>
            </a:r>
            <a:r>
              <a:rPr lang="en-US" sz="3600" cap="none" spc="0" dirty="0">
                <a:ln/>
                <a:solidFill>
                  <a:schemeClr val="accent4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lang="en-US" sz="3600" cap="none" spc="0" dirty="0" err="1">
                <a:ln/>
                <a:solidFill>
                  <a:schemeClr val="accent4"/>
                </a:solidFill>
                <a:effectLst/>
                <a:latin typeface="Agency FB" panose="020B0503020202020204" pitchFamily="34" charset="0"/>
              </a:rPr>
              <a:t>yaratilgan</a:t>
            </a:r>
            <a:r>
              <a:rPr lang="en-US" sz="3600" cap="none" spc="0" dirty="0">
                <a:ln/>
                <a:solidFill>
                  <a:schemeClr val="accent4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lang="en-US" sz="3600" cap="none" spc="0" dirty="0" err="1">
                <a:ln/>
                <a:solidFill>
                  <a:schemeClr val="accent4"/>
                </a:solidFill>
                <a:effectLst/>
                <a:latin typeface="Agency FB" panose="020B0503020202020204" pitchFamily="34" charset="0"/>
              </a:rPr>
              <a:t>dasturdan</a:t>
            </a:r>
            <a:r>
              <a:rPr lang="en-US" sz="3600" cap="none" spc="0" dirty="0">
                <a:ln/>
                <a:solidFill>
                  <a:schemeClr val="accent4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lang="en-US" sz="3600" cap="none" spc="0" dirty="0" err="1">
                <a:ln/>
                <a:solidFill>
                  <a:schemeClr val="accent4"/>
                </a:solidFill>
                <a:effectLst/>
                <a:latin typeface="Agency FB" panose="020B0503020202020204" pitchFamily="34" charset="0"/>
              </a:rPr>
              <a:t>mamnunlig</a:t>
            </a:r>
            <a:r>
              <a:rPr lang="en-US" sz="3600" dirty="0" err="1">
                <a:ln/>
                <a:solidFill>
                  <a:schemeClr val="accent4"/>
                </a:solidFill>
                <a:latin typeface="Agency FB" panose="020B0503020202020204" pitchFamily="34" charset="0"/>
              </a:rPr>
              <a:t>iga</a:t>
            </a:r>
            <a:r>
              <a:rPr lang="en-US" sz="3600" dirty="0">
                <a:ln/>
                <a:solidFill>
                  <a:schemeClr val="accent4"/>
                </a:solidFill>
                <a:latin typeface="Agency FB" panose="020B0503020202020204" pitchFamily="34" charset="0"/>
              </a:rPr>
              <a:t> </a:t>
            </a:r>
            <a:r>
              <a:rPr lang="en-US" sz="3600" dirty="0" err="1">
                <a:ln/>
                <a:solidFill>
                  <a:schemeClr val="accent4"/>
                </a:solidFill>
                <a:latin typeface="Agency FB" panose="020B0503020202020204" pitchFamily="34" charset="0"/>
              </a:rPr>
              <a:t>ishonch</a:t>
            </a:r>
            <a:r>
              <a:rPr lang="en-US" sz="3600" dirty="0">
                <a:ln/>
                <a:solidFill>
                  <a:schemeClr val="accent4"/>
                </a:solidFill>
                <a:latin typeface="Agency FB" panose="020B0503020202020204" pitchFamily="34" charset="0"/>
              </a:rPr>
              <a:t> </a:t>
            </a:r>
            <a:r>
              <a:rPr lang="en-US" sz="3600" dirty="0" err="1">
                <a:ln/>
                <a:solidFill>
                  <a:schemeClr val="accent4"/>
                </a:solidFill>
                <a:latin typeface="Agency FB" panose="020B0503020202020204" pitchFamily="34" charset="0"/>
              </a:rPr>
              <a:t>hosil</a:t>
            </a:r>
            <a:r>
              <a:rPr lang="en-US" sz="3600" dirty="0">
                <a:ln/>
                <a:solidFill>
                  <a:schemeClr val="accent4"/>
                </a:solidFill>
                <a:latin typeface="Agency FB" panose="020B0503020202020204" pitchFamily="34" charset="0"/>
              </a:rPr>
              <a:t> </a:t>
            </a:r>
            <a:r>
              <a:rPr lang="en-US" sz="3600" dirty="0" err="1">
                <a:ln/>
                <a:solidFill>
                  <a:schemeClr val="accent4"/>
                </a:solidFill>
                <a:latin typeface="Agency FB" panose="020B0503020202020204" pitchFamily="34" charset="0"/>
              </a:rPr>
              <a:t>qilish</a:t>
            </a:r>
            <a:r>
              <a:rPr lang="en-US" sz="3600" dirty="0">
                <a:ln/>
                <a:solidFill>
                  <a:schemeClr val="accent4"/>
                </a:solidFill>
                <a:latin typeface="Agency FB" panose="020B0503020202020204" pitchFamily="34" charset="0"/>
              </a:rPr>
              <a:t>.</a:t>
            </a:r>
            <a:endParaRPr lang="ru-RU" sz="3600" cap="none" spc="0" dirty="0">
              <a:ln/>
              <a:solidFill>
                <a:schemeClr val="accent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735632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8803545-BE61-438F-A57A-93F62E7F31E6}"/>
              </a:ext>
            </a:extLst>
          </p:cNvPr>
          <p:cNvSpPr/>
          <p:nvPr/>
        </p:nvSpPr>
        <p:spPr>
          <a:xfrm>
            <a:off x="7198296" y="161073"/>
            <a:ext cx="243047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5400" b="1" dirty="0">
                <a:ln/>
                <a:solidFill>
                  <a:schemeClr val="accent4"/>
                </a:solidFill>
              </a:rPr>
              <a:t>KIRISH:</a:t>
            </a:r>
            <a:endParaRPr lang="ru-RU" sz="5400" b="1" dirty="0">
              <a:ln/>
              <a:solidFill>
                <a:schemeClr val="accent4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D469655-AA2E-4712-B7B2-A46B621E39C6}"/>
              </a:ext>
            </a:extLst>
          </p:cNvPr>
          <p:cNvSpPr/>
          <p:nvPr/>
        </p:nvSpPr>
        <p:spPr>
          <a:xfrm>
            <a:off x="6305424" y="888117"/>
            <a:ext cx="421621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Kitobingizni</a:t>
            </a:r>
            <a:r>
              <a:rPr lang="en-US" b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7-9-sahifasida </a:t>
            </a:r>
            <a:r>
              <a:rPr lang="en-US" b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berilgan</a:t>
            </a:r>
            <a:r>
              <a:rPr lang="en-US" b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lang="ru-RU" b="1" cap="none" spc="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80F9E6C-C9A2-462B-A087-F3659BF2B4D4}"/>
              </a:ext>
            </a:extLst>
          </p:cNvPr>
          <p:cNvSpPr/>
          <p:nvPr/>
        </p:nvSpPr>
        <p:spPr>
          <a:xfrm>
            <a:off x="694937" y="1637299"/>
            <a:ext cx="11891918" cy="35394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accent1"/>
                </a:solidFill>
                <a:latin typeface="Agency FB" panose="020B0503020202020204" pitchFamily="34" charset="0"/>
              </a:rPr>
              <a:t>“</a:t>
            </a:r>
            <a:r>
              <a:rPr lang="en-US" altLang="en-US" sz="3200" b="1" dirty="0" err="1">
                <a:solidFill>
                  <a:schemeClr val="accent1"/>
                </a:solidFill>
                <a:latin typeface="Agency FB" panose="020B0503020202020204" pitchFamily="34" charset="0"/>
              </a:rPr>
              <a:t>Interfeys</a:t>
            </a:r>
            <a:r>
              <a:rPr lang="en-US" altLang="en-US" sz="3200" b="1" dirty="0">
                <a:solidFill>
                  <a:schemeClr val="accent1"/>
                </a:solidFill>
                <a:latin typeface="Agency FB" panose="020B0503020202020204" pitchFamily="34" charset="0"/>
              </a:rPr>
              <a:t>”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va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lang="en-US" altLang="en-US" sz="3200" b="1" dirty="0">
                <a:solidFill>
                  <a:schemeClr val="accent1"/>
                </a:solidFill>
                <a:latin typeface="Agency FB" panose="020B0503020202020204" pitchFamily="34" charset="0"/>
              </a:rPr>
              <a:t>“</a:t>
            </a:r>
            <a:r>
              <a:rPr lang="en-US" altLang="en-US" sz="3200" b="1" dirty="0" err="1">
                <a:solidFill>
                  <a:schemeClr val="accent1"/>
                </a:solidFill>
                <a:latin typeface="Agency FB" panose="020B0503020202020204" pitchFamily="34" charset="0"/>
              </a:rPr>
              <a:t>Interaktiv</a:t>
            </a:r>
            <a:r>
              <a:rPr lang="en-US" altLang="en-US" sz="3200" b="1" dirty="0">
                <a:solidFill>
                  <a:schemeClr val="accent1"/>
                </a:solidFill>
                <a:latin typeface="Agency FB" panose="020B0503020202020204" pitchFamily="34" charset="0"/>
              </a:rPr>
              <a:t>”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ning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farqi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Bu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ikkisini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o‘quvchilar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ko‘pincha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aralashtirib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yuborishi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mumkin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INTERFAZ (INTERFACE)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—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foydalanuvchi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ko‘rib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va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foydalanadigan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qism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INTERAKTIV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—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foydalanuvchi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bilan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dastur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o‘zaro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aloqa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qilishi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Buni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juda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oson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misol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bilan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tushuntirish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mumkin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🖥️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Interfeys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— “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dastur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bilan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ishlaydigan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joyimiz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”.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🤝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Interaktivlik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— “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dastur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bilan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o‘zaro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ishlashimiz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”.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AE21511-E3D5-48F4-A108-2FB124A69B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4763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8803545-BE61-438F-A57A-93F62E7F31E6}"/>
              </a:ext>
            </a:extLst>
          </p:cNvPr>
          <p:cNvSpPr/>
          <p:nvPr/>
        </p:nvSpPr>
        <p:spPr>
          <a:xfrm>
            <a:off x="7198296" y="-48399"/>
            <a:ext cx="243047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5400" b="1" dirty="0">
                <a:ln/>
                <a:solidFill>
                  <a:schemeClr val="accent4"/>
                </a:solidFill>
              </a:rPr>
              <a:t>KIRISH:</a:t>
            </a:r>
            <a:endParaRPr lang="ru-RU" sz="5400" b="1" dirty="0">
              <a:ln/>
              <a:solidFill>
                <a:schemeClr val="accent4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D469655-AA2E-4712-B7B2-A46B621E39C6}"/>
              </a:ext>
            </a:extLst>
          </p:cNvPr>
          <p:cNvSpPr/>
          <p:nvPr/>
        </p:nvSpPr>
        <p:spPr>
          <a:xfrm>
            <a:off x="6305422" y="696858"/>
            <a:ext cx="421621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Kitobingizni</a:t>
            </a:r>
            <a:r>
              <a:rPr lang="en-US" b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7-9-sahifasida </a:t>
            </a:r>
            <a:r>
              <a:rPr lang="en-US" b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berilgan</a:t>
            </a:r>
            <a:r>
              <a:rPr lang="en-US" b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lang="ru-RU" b="1" cap="none" spc="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80F9E6C-C9A2-462B-A087-F3659BF2B4D4}"/>
              </a:ext>
            </a:extLst>
          </p:cNvPr>
          <p:cNvSpPr/>
          <p:nvPr/>
        </p:nvSpPr>
        <p:spPr>
          <a:xfrm>
            <a:off x="872189" y="1066190"/>
            <a:ext cx="11891918" cy="477053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1433513" lvl="0" indent="-45720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⭐ </a:t>
            </a:r>
            <a:r>
              <a:rPr lang="en-US" altLang="en-US" sz="1600" b="1" dirty="0" err="1">
                <a:latin typeface="Arial" panose="020B0604020202020204" pitchFamily="34" charset="0"/>
              </a:rPr>
              <a:t>Hayotiy</a:t>
            </a:r>
            <a:r>
              <a:rPr lang="en-US" altLang="en-US" sz="1600" b="1" dirty="0">
                <a:latin typeface="Arial" panose="020B0604020202020204" pitchFamily="34" charset="0"/>
              </a:rPr>
              <a:t> </a:t>
            </a:r>
            <a:r>
              <a:rPr lang="en-US" altLang="en-US" sz="1600" b="1" dirty="0" err="1">
                <a:latin typeface="Arial" panose="020B0604020202020204" pitchFamily="34" charset="0"/>
              </a:rPr>
              <a:t>misol</a:t>
            </a:r>
            <a:r>
              <a:rPr lang="en-US" altLang="en-US" sz="1600" b="1" dirty="0">
                <a:latin typeface="Arial" panose="020B0604020202020204" pitchFamily="34" charset="0"/>
              </a:rPr>
              <a:t> — </a:t>
            </a:r>
            <a:r>
              <a:rPr lang="en-US" altLang="en-US" sz="1600" b="1" dirty="0" err="1">
                <a:latin typeface="Arial" panose="020B0604020202020204" pitchFamily="34" charset="0"/>
              </a:rPr>
              <a:t>televizor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marL="1433513" lvl="0" indent="-45720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>
                <a:latin typeface="Arial" panose="020B0604020202020204" pitchFamily="34" charset="0"/>
              </a:rPr>
              <a:t>Televizorni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</a:rPr>
              <a:t>olaylik</a:t>
            </a:r>
            <a:r>
              <a:rPr lang="en-US" altLang="en-US" sz="1600" dirty="0">
                <a:latin typeface="Arial" panose="020B0604020202020204" pitchFamily="34" charset="0"/>
              </a:rPr>
              <a:t>.</a:t>
            </a:r>
          </a:p>
          <a:p>
            <a:pPr marL="1433513" lvl="0" indent="-45720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📺 </a:t>
            </a:r>
            <a:r>
              <a:rPr lang="en-US" altLang="en-US" sz="1600" dirty="0" err="1">
                <a:latin typeface="Arial" panose="020B0604020202020204" pitchFamily="34" charset="0"/>
              </a:rPr>
              <a:t>Televizorning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</a:rPr>
              <a:t>ekrani</a:t>
            </a:r>
            <a:r>
              <a:rPr lang="en-US" altLang="en-US" sz="1600" dirty="0">
                <a:latin typeface="Arial" panose="020B0604020202020204" pitchFamily="34" charset="0"/>
              </a:rPr>
              <a:t>, </a:t>
            </a:r>
            <a:r>
              <a:rPr lang="en-US" altLang="en-US" sz="1600" dirty="0" err="1">
                <a:latin typeface="Arial" panose="020B0604020202020204" pitchFamily="34" charset="0"/>
              </a:rPr>
              <a:t>menyusi</a:t>
            </a:r>
            <a:r>
              <a:rPr lang="en-US" altLang="en-US" sz="1600" dirty="0">
                <a:latin typeface="Arial" panose="020B0604020202020204" pitchFamily="34" charset="0"/>
              </a:rPr>
              <a:t>, </a:t>
            </a:r>
            <a:r>
              <a:rPr lang="en-US" altLang="en-US" sz="1600" dirty="0" err="1">
                <a:latin typeface="Arial" panose="020B0604020202020204" pitchFamily="34" charset="0"/>
              </a:rPr>
              <a:t>tugmalari</a:t>
            </a:r>
            <a:r>
              <a:rPr lang="en-US" altLang="en-US" sz="1600" dirty="0">
                <a:latin typeface="Arial" panose="020B0604020202020204" pitchFamily="34" charset="0"/>
              </a:rPr>
              <a:t> — </a:t>
            </a:r>
            <a:r>
              <a:rPr lang="en-US" altLang="en-US" sz="1600" b="1" dirty="0" err="1">
                <a:latin typeface="Arial" panose="020B0604020202020204" pitchFamily="34" charset="0"/>
              </a:rPr>
              <a:t>interfeys</a:t>
            </a:r>
            <a:r>
              <a:rPr lang="en-US" altLang="en-US" sz="1600" dirty="0">
                <a:latin typeface="Arial" panose="020B0604020202020204" pitchFamily="34" charset="0"/>
              </a:rPr>
              <a:t>.</a:t>
            </a:r>
          </a:p>
          <a:p>
            <a:pPr marL="1433513" lvl="0" indent="-45720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>
                <a:latin typeface="Arial" panose="020B0604020202020204" pitchFamily="34" charset="0"/>
              </a:rPr>
              <a:t>Siz</a:t>
            </a:r>
            <a:r>
              <a:rPr lang="en-US" altLang="en-US" sz="1600" dirty="0">
                <a:latin typeface="Arial" panose="020B0604020202020204" pitchFamily="34" charset="0"/>
              </a:rPr>
              <a:t>:</a:t>
            </a:r>
          </a:p>
          <a:p>
            <a:pPr marL="1433513" lvl="0" indent="-45720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err="1">
                <a:latin typeface="Arial" panose="020B0604020202020204" pitchFamily="34" charset="0"/>
              </a:rPr>
              <a:t>kanal</a:t>
            </a:r>
            <a:r>
              <a:rPr lang="en-US" altLang="en-US" sz="1600" b="1" dirty="0">
                <a:latin typeface="Arial" panose="020B0604020202020204" pitchFamily="34" charset="0"/>
              </a:rPr>
              <a:t> </a:t>
            </a:r>
            <a:r>
              <a:rPr lang="en-US" altLang="en-US" sz="1600" b="1" dirty="0" err="1">
                <a:latin typeface="Arial" panose="020B0604020202020204" pitchFamily="34" charset="0"/>
              </a:rPr>
              <a:t>tanlaysiz</a:t>
            </a:r>
            <a:r>
              <a:rPr lang="en-US" altLang="en-US" sz="1600" b="1" dirty="0">
                <a:latin typeface="Arial" panose="020B0604020202020204" pitchFamily="34" charset="0"/>
              </a:rPr>
              <a:t> → </a:t>
            </a:r>
            <a:r>
              <a:rPr lang="en-US" altLang="en-US" sz="1600" b="1" dirty="0" err="1">
                <a:latin typeface="Arial" panose="020B0604020202020204" pitchFamily="34" charset="0"/>
              </a:rPr>
              <a:t>tugmani</a:t>
            </a:r>
            <a:r>
              <a:rPr lang="en-US" altLang="en-US" sz="1600" b="1" dirty="0">
                <a:latin typeface="Arial" panose="020B0604020202020204" pitchFamily="34" charset="0"/>
              </a:rPr>
              <a:t> </a:t>
            </a:r>
            <a:r>
              <a:rPr lang="en-US" altLang="en-US" sz="1600" b="1" dirty="0" err="1">
                <a:latin typeface="Arial" panose="020B0604020202020204" pitchFamily="34" charset="0"/>
              </a:rPr>
              <a:t>bosasiz</a:t>
            </a:r>
            <a:r>
              <a:rPr lang="en-US" altLang="en-US" sz="1600" b="1" dirty="0">
                <a:latin typeface="Arial" panose="020B0604020202020204" pitchFamily="34" charset="0"/>
              </a:rPr>
              <a:t> → </a:t>
            </a:r>
            <a:r>
              <a:rPr lang="en-US" altLang="en-US" sz="1600" b="1" dirty="0" err="1">
                <a:latin typeface="Arial" panose="020B0604020202020204" pitchFamily="34" charset="0"/>
              </a:rPr>
              <a:t>televizor</a:t>
            </a:r>
            <a:r>
              <a:rPr lang="en-US" altLang="en-US" sz="1600" b="1" dirty="0">
                <a:latin typeface="Arial" panose="020B0604020202020204" pitchFamily="34" charset="0"/>
              </a:rPr>
              <a:t> </a:t>
            </a:r>
            <a:r>
              <a:rPr lang="en-US" altLang="en-US" sz="1600" b="1" dirty="0" err="1">
                <a:latin typeface="Arial" panose="020B0604020202020204" pitchFamily="34" charset="0"/>
              </a:rPr>
              <a:t>kanalni</a:t>
            </a:r>
            <a:r>
              <a:rPr lang="en-US" altLang="en-US" sz="1600" b="1" dirty="0">
                <a:latin typeface="Arial" panose="020B0604020202020204" pitchFamily="34" charset="0"/>
              </a:rPr>
              <a:t> </a:t>
            </a:r>
            <a:r>
              <a:rPr lang="en-US" altLang="en-US" sz="1600" b="1" dirty="0" err="1">
                <a:latin typeface="Arial" panose="020B0604020202020204" pitchFamily="34" charset="0"/>
              </a:rPr>
              <a:t>o‘zgartiradi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marL="1433513" lvl="0" indent="-45720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Bu </a:t>
            </a:r>
            <a:r>
              <a:rPr lang="en-US" altLang="en-US" sz="1600" dirty="0" err="1">
                <a:latin typeface="Arial" panose="020B0604020202020204" pitchFamily="34" charset="0"/>
              </a:rPr>
              <a:t>esa</a:t>
            </a:r>
            <a:r>
              <a:rPr lang="en-US" altLang="en-US" sz="1600" dirty="0">
                <a:latin typeface="Arial" panose="020B0604020202020204" pitchFamily="34" charset="0"/>
              </a:rPr>
              <a:t> — </a:t>
            </a:r>
            <a:r>
              <a:rPr lang="en-US" altLang="en-US" sz="1600" b="1" dirty="0" err="1">
                <a:latin typeface="Arial" panose="020B0604020202020204" pitchFamily="34" charset="0"/>
              </a:rPr>
              <a:t>interaktivlik</a:t>
            </a:r>
            <a:r>
              <a:rPr lang="en-US" altLang="en-US" sz="1600" dirty="0">
                <a:latin typeface="Arial" panose="020B0604020202020204" pitchFamily="34" charset="0"/>
              </a:rPr>
              <a:t>.</a:t>
            </a:r>
          </a:p>
          <a:p>
            <a:pPr marL="1433513" lvl="0" indent="-45720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  <a:p>
            <a:pPr marL="1433513" lvl="0" indent="-45720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💻 </a:t>
            </a:r>
            <a:r>
              <a:rPr lang="en-US" altLang="en-US" sz="1600" b="1" dirty="0" err="1">
                <a:latin typeface="Arial" panose="020B0604020202020204" pitchFamily="34" charset="0"/>
              </a:rPr>
              <a:t>Kompyuterdagi</a:t>
            </a:r>
            <a:r>
              <a:rPr lang="en-US" altLang="en-US" sz="1600" b="1" dirty="0">
                <a:latin typeface="Arial" panose="020B0604020202020204" pitchFamily="34" charset="0"/>
              </a:rPr>
              <a:t> </a:t>
            </a:r>
            <a:r>
              <a:rPr lang="en-US" altLang="en-US" sz="1600" b="1" dirty="0" err="1">
                <a:latin typeface="Arial" panose="020B0604020202020204" pitchFamily="34" charset="0"/>
              </a:rPr>
              <a:t>misol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marL="1433513" lvl="0" indent="-45720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>
                <a:latin typeface="Arial" panose="020B0604020202020204" pitchFamily="34" charset="0"/>
              </a:rPr>
              <a:t>Masalan</a:t>
            </a:r>
            <a:r>
              <a:rPr lang="en-US" altLang="en-US" sz="1600" dirty="0">
                <a:latin typeface="Arial" panose="020B0604020202020204" pitchFamily="34" charset="0"/>
              </a:rPr>
              <a:t>, Microsoft Word </a:t>
            </a:r>
            <a:r>
              <a:rPr lang="en-US" altLang="en-US" sz="1600" dirty="0" err="1">
                <a:latin typeface="Arial" panose="020B0604020202020204" pitchFamily="34" charset="0"/>
              </a:rPr>
              <a:t>dasturini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</a:rPr>
              <a:t>olaylik</a:t>
            </a:r>
            <a:r>
              <a:rPr lang="en-US" altLang="en-US" sz="1600" dirty="0">
                <a:latin typeface="Arial" panose="020B0604020202020204" pitchFamily="34" charset="0"/>
              </a:rPr>
              <a:t>.</a:t>
            </a:r>
          </a:p>
          <a:p>
            <a:pPr marL="1433513" lvl="0" indent="-45720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>
                <a:latin typeface="Arial" panose="020B0604020202020204" pitchFamily="34" charset="0"/>
              </a:rPr>
              <a:t>Word'dagi</a:t>
            </a:r>
            <a:r>
              <a:rPr lang="en-US" altLang="en-US" sz="1600" dirty="0">
                <a:latin typeface="Arial" panose="020B0604020202020204" pitchFamily="34" charset="0"/>
              </a:rPr>
              <a:t>:</a:t>
            </a:r>
          </a:p>
          <a:p>
            <a:pPr marL="1433513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File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</a:p>
          <a:p>
            <a:pPr marL="1433513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Home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</a:p>
          <a:p>
            <a:pPr marL="1433513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Insert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</a:p>
          <a:p>
            <a:pPr marL="1433513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Review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</a:p>
          <a:p>
            <a:pPr marL="1433513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 err="1">
                <a:latin typeface="Arial" panose="020B0604020202020204" pitchFamily="34" charset="0"/>
              </a:rPr>
              <a:t>tugmalar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</a:p>
          <a:p>
            <a:pPr marL="1433513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 err="1">
                <a:latin typeface="Arial" panose="020B0604020202020204" pitchFamily="34" charset="0"/>
              </a:rPr>
              <a:t>menyular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</a:p>
          <a:p>
            <a:pPr marL="1433513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 err="1">
                <a:latin typeface="Arial" panose="020B0604020202020204" pitchFamily="34" charset="0"/>
              </a:rPr>
              <a:t>matn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</a:rPr>
              <a:t>yoziladigan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</a:rPr>
              <a:t>sahifa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</a:p>
          <a:p>
            <a:pPr marL="1433513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 err="1">
                <a:latin typeface="Arial" panose="020B0604020202020204" pitchFamily="34" charset="0"/>
              </a:rPr>
              <a:t>oynalar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</a:p>
          <a:p>
            <a:pPr marL="1433513" lvl="0" indent="-45720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— </a:t>
            </a:r>
            <a:r>
              <a:rPr lang="en-US" altLang="en-US" sz="1600" dirty="0" err="1">
                <a:latin typeface="Arial" panose="020B0604020202020204" pitchFamily="34" charset="0"/>
              </a:rPr>
              <a:t>bularning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</a:rPr>
              <a:t>barchasi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</a:rPr>
              <a:t>foydalanuvchi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</a:rPr>
              <a:t>uchun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b="1" dirty="0" err="1">
                <a:solidFill>
                  <a:schemeClr val="accent1"/>
                </a:solidFill>
                <a:latin typeface="Arial" panose="020B0604020202020204" pitchFamily="34" charset="0"/>
              </a:rPr>
              <a:t>interfeys</a:t>
            </a:r>
            <a:r>
              <a:rPr lang="en-US" altLang="en-US" sz="1600" dirty="0" err="1">
                <a:solidFill>
                  <a:schemeClr val="bg1"/>
                </a:solidFill>
                <a:latin typeface="Arial" panose="020B0604020202020204" pitchFamily="34" charset="0"/>
              </a:rPr>
              <a:t>ning</a:t>
            </a: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Arial" panose="020B0604020202020204" pitchFamily="34" charset="0"/>
              </a:rPr>
              <a:t>qismlaridir</a:t>
            </a: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AE21511-E3D5-48F4-A108-2FB124A69B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62710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След самолета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TM04033937[[fn=След самолета]]</Template>
  <TotalTime>195</TotalTime>
  <Words>265</Words>
  <Application>Microsoft Office PowerPoint</Application>
  <PresentationFormat>Широкоэкранный</PresentationFormat>
  <Paragraphs>48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Agency FB</vt:lpstr>
      <vt:lpstr>Arial</vt:lpstr>
      <vt:lpstr>Century Gothic</vt:lpstr>
      <vt:lpstr>Wingdings</vt:lpstr>
      <vt:lpstr>След самолета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Ikrom Rayxonovich</dc:creator>
  <cp:lastModifiedBy>Ikrom Rayxonovich</cp:lastModifiedBy>
  <cp:revision>23</cp:revision>
  <dcterms:created xsi:type="dcterms:W3CDTF">2026-08-22T16:44:02Z</dcterms:created>
  <dcterms:modified xsi:type="dcterms:W3CDTF">2026-08-26T00:56:09Z</dcterms:modified>
</cp:coreProperties>
</file>