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9" autoAdjust="0"/>
    <p:restoredTop sz="86410"/>
  </p:normalViewPr>
  <p:slideViewPr>
    <p:cSldViewPr snapToGrid="0">
      <p:cViewPr varScale="1">
        <p:scale>
          <a:sx n="59" d="100"/>
          <a:sy n="59" d="100"/>
        </p:scale>
        <p:origin x="360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181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453A9-0551-4EEC-A030-C6A9041069B8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B1D55-7237-4CFF-ACCC-44BAD0B5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85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B1D55-7237-4CFF-ACCC-44BAD0B5D6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48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B1D55-7237-4CFF-ACCC-44BAD0B5D6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33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3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98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00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8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70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49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34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4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6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90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4119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23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0932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88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53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52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09B78B-3AA4-456E-93A9-806C2D381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BC1B4D7-70E2-4AF9-9010-9ABC249A8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AE884BC-8C55-4F24-840F-C3D71CE48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58BA483-1A86-4DC3-B86B-66F717074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2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287A4-D8F4-484B-8F68-F47C5D68505B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92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66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C3937BF-0498-495C-A1A1-D7189D329174}"/>
              </a:ext>
            </a:extLst>
          </p:cNvPr>
          <p:cNvSpPr/>
          <p:nvPr/>
        </p:nvSpPr>
        <p:spPr>
          <a:xfrm>
            <a:off x="1006021" y="457200"/>
            <a:ext cx="8432800" cy="206210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“</a:t>
            </a:r>
            <a:r>
              <a:rPr lang="en-US" sz="400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Dasturlashning</a:t>
            </a:r>
            <a:r>
              <a:rPr lang="en-US" sz="40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asosiy</a:t>
            </a:r>
            <a:r>
              <a:rPr lang="en-US" sz="40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tushunchalari</a:t>
            </a:r>
            <a:r>
              <a:rPr lang="en-US" sz="40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”-</a:t>
            </a:r>
            <a:r>
              <a:rPr lang="en-US" sz="400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nomli</a:t>
            </a:r>
            <a:r>
              <a:rPr lang="en-US" sz="40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mavzuning</a:t>
            </a:r>
            <a:r>
              <a:rPr lang="en-US" sz="40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asosiy</a:t>
            </a:r>
            <a:r>
              <a:rPr lang="en-US" sz="40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kalit</a:t>
            </a:r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so`zlari</a:t>
            </a:r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quyidagilardan</a:t>
            </a:r>
            <a:r>
              <a:rPr lang="en-US" sz="40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  </a:t>
            </a:r>
            <a:r>
              <a:rPr lang="en-US" sz="400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iborat</a:t>
            </a:r>
            <a:r>
              <a:rPr lang="en-US" sz="40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gency FB" panose="020B0503020202020204" pitchFamily="34" charset="0"/>
              </a:rPr>
              <a:t>:</a:t>
            </a:r>
            <a:endParaRPr lang="ru-RU" sz="40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5767668-06C1-4D11-B3A9-6112359B29BB}"/>
              </a:ext>
            </a:extLst>
          </p:cNvPr>
          <p:cNvSpPr/>
          <p:nvPr/>
        </p:nvSpPr>
        <p:spPr>
          <a:xfrm>
            <a:off x="555172" y="2443052"/>
            <a:ext cx="10444843" cy="532453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lvl="3" indent="457200" algn="just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FF0000"/>
                </a:solidFill>
                <a:latin typeface="Agency FB" panose="020B0503020202020204" pitchFamily="34" charset="0"/>
              </a:rPr>
              <a:t>Dastur </a:t>
            </a:r>
            <a:r>
              <a:rPr lang="en-US" sz="3200" dirty="0" err="1">
                <a:solidFill>
                  <a:srgbClr val="FF0000"/>
                </a:solidFill>
                <a:latin typeface="Agency FB" panose="020B0503020202020204" pitchFamily="34" charset="0"/>
              </a:rPr>
              <a:t>yaratish</a:t>
            </a:r>
            <a:r>
              <a:rPr lang="en-US" sz="3200" dirty="0">
                <a:solidFill>
                  <a:srgbClr val="FF0000"/>
                </a:solidFill>
                <a:latin typeface="Agency FB" panose="020B0503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gency FB" panose="020B0503020202020204" pitchFamily="34" charset="0"/>
              </a:rPr>
              <a:t>sikli</a:t>
            </a:r>
            <a:r>
              <a:rPr lang="en-US" sz="3200" b="1" dirty="0" err="1">
                <a:solidFill>
                  <a:srgbClr val="FF0000"/>
                </a:solidFill>
                <a:latin typeface="Agency FB" panose="020B0503020202020204" pitchFamily="34" charset="0"/>
              </a:rPr>
              <a:t>-</a:t>
            </a:r>
            <a:r>
              <a:rPr lang="en-US" sz="3200" dirty="0" err="1">
                <a:latin typeface="Agency FB" panose="020B0503020202020204" pitchFamily="34" charset="0"/>
              </a:rPr>
              <a:t>rasmiy</a:t>
            </a:r>
            <a:r>
              <a:rPr lang="en-US" sz="3200" b="1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jaryonlar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to`plami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bo`lib</a:t>
            </a:r>
            <a:r>
              <a:rPr lang="en-US" sz="3200" dirty="0">
                <a:latin typeface="Agency FB" panose="020B0503020202020204" pitchFamily="34" charset="0"/>
              </a:rPr>
              <a:t>, </a:t>
            </a:r>
            <a:r>
              <a:rPr lang="en-US" sz="3200" dirty="0" err="1">
                <a:latin typeface="Agency FB" panose="020B0503020202020204" pitchFamily="34" charset="0"/>
              </a:rPr>
              <a:t>rejalashtirish,loyihalash,ishlab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chiqish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va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tizimni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sinovdan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o`tkazishni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o`z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ichiga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oladi</a:t>
            </a:r>
            <a:r>
              <a:rPr lang="en-US" sz="3200" dirty="0">
                <a:latin typeface="Agency FB" panose="020B0503020202020204" pitchFamily="34" charset="0"/>
              </a:rPr>
              <a:t>. </a:t>
            </a:r>
            <a:r>
              <a:rPr lang="en-US" sz="3200" dirty="0">
                <a:solidFill>
                  <a:srgbClr val="FF0000"/>
                </a:solidFill>
                <a:latin typeface="Agency FB" panose="020B0503020202020204" pitchFamily="34" charset="0"/>
              </a:rPr>
              <a:t> </a:t>
            </a:r>
            <a:endParaRPr lang="en-US" sz="3200" dirty="0">
              <a:latin typeface="Agency FB" panose="020B0503020202020204" pitchFamily="34" charset="0"/>
            </a:endParaRPr>
          </a:p>
          <a:p>
            <a:pPr indent="457200" algn="just">
              <a:buFont typeface="Wingdings" panose="05000000000000000000" pitchFamily="2" charset="2"/>
              <a:buChar char="Ø"/>
            </a:pPr>
            <a:r>
              <a:rPr lang="en-US" sz="3200" dirty="0" err="1">
                <a:solidFill>
                  <a:schemeClr val="accent3"/>
                </a:solidFill>
                <a:latin typeface="Agency FB" panose="020B0503020202020204" pitchFamily="34" charset="0"/>
              </a:rPr>
              <a:t>Sinovdan</a:t>
            </a:r>
            <a:r>
              <a:rPr lang="en-US" sz="3200" dirty="0">
                <a:solidFill>
                  <a:schemeClr val="accent3"/>
                </a:solidFill>
                <a:latin typeface="Agency FB" panose="020B0503020202020204" pitchFamily="34" charset="0"/>
              </a:rPr>
              <a:t> </a:t>
            </a:r>
            <a:r>
              <a:rPr lang="en-US" sz="3200" dirty="0" err="1">
                <a:solidFill>
                  <a:schemeClr val="accent3"/>
                </a:solidFill>
                <a:latin typeface="Agency FB" panose="020B0503020202020204" pitchFamily="34" charset="0"/>
              </a:rPr>
              <a:t>o`tkazish-</a:t>
            </a:r>
            <a:r>
              <a:rPr lang="en-US" sz="3200" dirty="0" err="1">
                <a:latin typeface="Agency FB" panose="020B0503020202020204" pitchFamily="34" charset="0"/>
              </a:rPr>
              <a:t>kod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seksiyasi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to`g`ri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ishlashini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tekshiradi</a:t>
            </a:r>
            <a:r>
              <a:rPr lang="en-US" sz="3200" dirty="0">
                <a:latin typeface="Agency FB" panose="020B0503020202020204" pitchFamily="34" charset="0"/>
              </a:rPr>
              <a:t>.</a:t>
            </a:r>
          </a:p>
          <a:p>
            <a:pPr indent="457200" algn="just">
              <a:buFont typeface="Wingdings" panose="05000000000000000000" pitchFamily="2" charset="2"/>
              <a:buChar char="Ø"/>
            </a:pPr>
            <a:r>
              <a:rPr lang="en-US" sz="3200" dirty="0" err="1">
                <a:solidFill>
                  <a:srgbClr val="FF0000"/>
                </a:solidFill>
                <a:latin typeface="Agency FB" panose="020B0503020202020204" pitchFamily="34" charset="0"/>
              </a:rPr>
              <a:t>Interaktiv-</a:t>
            </a:r>
            <a:r>
              <a:rPr lang="en-US" sz="3200" dirty="0" err="1">
                <a:latin typeface="Agency FB" panose="020B0503020202020204" pitchFamily="34" charset="0"/>
              </a:rPr>
              <a:t>ma`lumot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kiritish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va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chiqarish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imkonini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beruvchi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dastur</a:t>
            </a:r>
            <a:r>
              <a:rPr lang="en-US" sz="3200" dirty="0">
                <a:latin typeface="Agency FB" panose="020B0503020202020204" pitchFamily="34" charset="0"/>
              </a:rPr>
              <a:t>.</a:t>
            </a:r>
          </a:p>
          <a:p>
            <a:pPr indent="457200" algn="just">
              <a:buFont typeface="Wingdings" panose="05000000000000000000" pitchFamily="2" charset="2"/>
              <a:buChar char="Ø"/>
            </a:pPr>
            <a:r>
              <a:rPr lang="en-US" sz="3200" dirty="0" err="1">
                <a:solidFill>
                  <a:srgbClr val="FF0000"/>
                </a:solidFill>
                <a:latin typeface="Agency FB" panose="020B0503020202020204" pitchFamily="34" charset="0"/>
              </a:rPr>
              <a:t>Interfeys-</a:t>
            </a:r>
            <a:r>
              <a:rPr lang="en-US" sz="3200" dirty="0" err="1">
                <a:latin typeface="Agency FB" panose="020B0503020202020204" pitchFamily="34" charset="0"/>
              </a:rPr>
              <a:t>dasturning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ma`lumotlarni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kiritish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va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natijani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chiqarib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berishga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mo`ljallangan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qismi</a:t>
            </a:r>
            <a:r>
              <a:rPr lang="en-US" sz="3200" dirty="0">
                <a:latin typeface="Agency FB" panose="020B0503020202020204" pitchFamily="34" charset="0"/>
              </a:rPr>
              <a:t>.</a:t>
            </a:r>
          </a:p>
          <a:p>
            <a:pPr indent="457200" algn="just">
              <a:buFont typeface="Wingdings" panose="05000000000000000000" pitchFamily="2" charset="2"/>
              <a:buChar char="Ø"/>
            </a:pPr>
            <a:r>
              <a:rPr lang="en-US" sz="3200" dirty="0" err="1">
                <a:solidFill>
                  <a:srgbClr val="FF0000"/>
                </a:solidFill>
                <a:latin typeface="Agency FB" panose="020B0503020202020204" pitchFamily="34" charset="0"/>
              </a:rPr>
              <a:t>Ma`lumot</a:t>
            </a:r>
            <a:r>
              <a:rPr lang="en-US" sz="3200" dirty="0">
                <a:solidFill>
                  <a:srgbClr val="FF0000"/>
                </a:solidFill>
                <a:latin typeface="Agency FB" panose="020B0503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gency FB" panose="020B0503020202020204" pitchFamily="34" charset="0"/>
              </a:rPr>
              <a:t>kiritish-</a:t>
            </a:r>
            <a:r>
              <a:rPr lang="en-US" sz="3200" dirty="0" err="1">
                <a:latin typeface="Agency FB" panose="020B0503020202020204" pitchFamily="34" charset="0"/>
              </a:rPr>
              <a:t>kompyuterga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ma`lumotni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kiritish,Masalan,matn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terish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yoki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tugmachalarni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bosish</a:t>
            </a:r>
            <a:r>
              <a:rPr lang="en-US" sz="3200" dirty="0">
                <a:latin typeface="Agency FB" panose="020B0503020202020204" pitchFamily="34" charset="0"/>
              </a:rPr>
              <a:t>.</a:t>
            </a:r>
            <a:endParaRPr lang="en-US" sz="3200" dirty="0">
              <a:solidFill>
                <a:srgbClr val="FF0000"/>
              </a:solidFill>
              <a:latin typeface="Agency FB" panose="020B0503020202020204" pitchFamily="34" charset="0"/>
            </a:endParaRPr>
          </a:p>
          <a:p>
            <a:pPr marL="514350" indent="-514350" algn="just">
              <a:buFont typeface="+mj-lt"/>
              <a:buAutoNum type="arabicParenR"/>
            </a:pPr>
            <a:endParaRPr lang="en-US" sz="2800" b="1" dirty="0">
              <a:solidFill>
                <a:schemeClr val="accent3"/>
              </a:solidFill>
            </a:endParaRPr>
          </a:p>
          <a:p>
            <a:pPr algn="just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18935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ACA3095-88E9-4CC0-A860-9A454184EE2B}"/>
              </a:ext>
            </a:extLst>
          </p:cNvPr>
          <p:cNvSpPr/>
          <p:nvPr/>
        </p:nvSpPr>
        <p:spPr>
          <a:xfrm>
            <a:off x="249996" y="557102"/>
            <a:ext cx="9160704" cy="56323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57150" indent="742950" algn="just">
              <a:buFont typeface="Wingdings" panose="05000000000000000000" pitchFamily="2" charset="2"/>
              <a:buChar char="Ø"/>
            </a:pPr>
            <a:r>
              <a:rPr lang="en-US" sz="4000" cap="none" spc="0" dirty="0" err="1">
                <a:ln/>
                <a:solidFill>
                  <a:srgbClr val="FF0000"/>
                </a:solidFill>
                <a:latin typeface="Agency FB" panose="020B0503020202020204" pitchFamily="34" charset="0"/>
              </a:rPr>
              <a:t>Natijani</a:t>
            </a:r>
            <a:r>
              <a:rPr lang="en-US" sz="4000" cap="none" spc="0" dirty="0">
                <a:ln/>
                <a:solidFill>
                  <a:srgbClr val="FF0000"/>
                </a:solidFill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rgbClr val="FF0000"/>
                </a:solidFill>
                <a:latin typeface="Agency FB" panose="020B0503020202020204" pitchFamily="34" charset="0"/>
              </a:rPr>
              <a:t>chiqarish-</a:t>
            </a:r>
            <a:r>
              <a:rPr lang="en-US" sz="4000" cap="none" spc="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foydalanuvchiga</a:t>
            </a:r>
            <a:r>
              <a:rPr lang="en-US" sz="4000" cap="none" spc="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kompyuterning</a:t>
            </a:r>
            <a:r>
              <a:rPr lang="en-US" sz="4000" cap="none" spc="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ekrani</a:t>
            </a:r>
            <a:r>
              <a:rPr lang="en-US" sz="4000" cap="none" spc="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yoki</a:t>
            </a:r>
            <a:r>
              <a:rPr lang="en-US" sz="4000" cap="none" spc="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ovoz</a:t>
            </a:r>
            <a:r>
              <a:rPr lang="en-US" sz="4000" cap="none" spc="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karnayi</a:t>
            </a:r>
            <a:r>
              <a:rPr lang="en-US" sz="4000" cap="none" spc="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yordamida</a:t>
            </a:r>
            <a:r>
              <a:rPr lang="en-US" sz="4000" cap="none" spc="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ma`lumot</a:t>
            </a:r>
            <a:r>
              <a:rPr lang="en-US" sz="4000" cap="none" spc="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yetkazish</a:t>
            </a:r>
            <a:r>
              <a:rPr lang="en-US" sz="4000" cap="none" spc="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.</a:t>
            </a:r>
          </a:p>
          <a:p>
            <a:pPr marL="57150" indent="742950" algn="just">
              <a:buFont typeface="Wingdings" panose="05000000000000000000" pitchFamily="2" charset="2"/>
              <a:buChar char="Ø"/>
            </a:pPr>
            <a:r>
              <a:rPr lang="en-US" sz="4000" dirty="0">
                <a:ln/>
                <a:solidFill>
                  <a:srgbClr val="FF0000"/>
                </a:solidFill>
                <a:latin typeface="Agency FB" panose="020B0503020202020204" pitchFamily="34" charset="0"/>
              </a:rPr>
              <a:t>Analog-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real </a:t>
            </a:r>
            <a:r>
              <a:rPr lang="en-US" sz="400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hayotdagi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(</a:t>
            </a:r>
            <a:r>
              <a:rPr lang="en-US" sz="400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kompyuter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yordamida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taqdim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etilmaydigan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) </a:t>
            </a:r>
            <a:r>
              <a:rPr lang="en-US" sz="400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ma`lumot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.</a:t>
            </a:r>
          </a:p>
          <a:p>
            <a:pPr marL="57150" indent="742950" algn="just">
              <a:buFont typeface="Wingdings" panose="05000000000000000000" pitchFamily="2" charset="2"/>
              <a:buChar char="Ø"/>
            </a:pPr>
            <a:r>
              <a:rPr lang="en-US" sz="4000" cap="none" spc="0" dirty="0" err="1">
                <a:ln/>
                <a:solidFill>
                  <a:srgbClr val="FF0000"/>
                </a:solidFill>
                <a:latin typeface="Agency FB" panose="020B0503020202020204" pitchFamily="34" charset="0"/>
              </a:rPr>
              <a:t>Raqamli-</a:t>
            </a:r>
            <a:r>
              <a:rPr lang="en-US" sz="4000" cap="none" spc="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kompyuterdagi</a:t>
            </a:r>
            <a:r>
              <a:rPr lang="en-US" sz="4000" cap="none" spc="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ma`lumotlar.Ular</a:t>
            </a:r>
            <a:r>
              <a:rPr lang="en-US" sz="4000" cap="none" spc="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kompyuterda</a:t>
            </a:r>
            <a:r>
              <a:rPr lang="en-US" sz="4000" cap="none" spc="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0 </a:t>
            </a:r>
            <a:r>
              <a:rPr lang="en-US" sz="4000" cap="none" spc="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va</a:t>
            </a:r>
            <a:r>
              <a:rPr lang="en-US" sz="4000" cap="none" spc="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1 </a:t>
            </a:r>
            <a:r>
              <a:rPr lang="en-US" sz="4000" cap="none" spc="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shaklida</a:t>
            </a:r>
            <a:r>
              <a:rPr lang="en-US" sz="4000" cap="none" spc="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saqlanadi</a:t>
            </a:r>
            <a:r>
              <a:rPr lang="en-US" sz="4000" cap="none" spc="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.</a:t>
            </a:r>
            <a:endParaRPr lang="en-US" sz="4000" cap="none" spc="0" dirty="0">
              <a:ln/>
              <a:solidFill>
                <a:srgbClr val="FF0000"/>
              </a:solidFill>
              <a:latin typeface="Agency FB" panose="020B0503020202020204" pitchFamily="34" charset="0"/>
            </a:endParaRPr>
          </a:p>
          <a:p>
            <a:pPr marL="57150" indent="742950" algn="just">
              <a:buFont typeface="Wingdings" panose="05000000000000000000" pitchFamily="2" charset="2"/>
              <a:buChar char="Ø"/>
            </a:pPr>
            <a:r>
              <a:rPr lang="en-US" sz="4000" dirty="0" err="1">
                <a:ln/>
                <a:solidFill>
                  <a:srgbClr val="FF0000"/>
                </a:solidFill>
                <a:latin typeface="Agency FB" panose="020B0503020202020204" pitchFamily="34" charset="0"/>
              </a:rPr>
              <a:t>Ma`lumot</a:t>
            </a:r>
            <a:r>
              <a:rPr lang="en-US" sz="4000" dirty="0">
                <a:ln/>
                <a:solidFill>
                  <a:srgbClr val="FF0000"/>
                </a:solidFill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/>
                <a:solidFill>
                  <a:srgbClr val="FF0000"/>
                </a:solidFill>
                <a:latin typeface="Agency FB" panose="020B0503020202020204" pitchFamily="34" charset="0"/>
              </a:rPr>
              <a:t>to`plash</a:t>
            </a:r>
            <a:r>
              <a:rPr lang="en-US" sz="4000" dirty="0">
                <a:ln/>
                <a:solidFill>
                  <a:srgbClr val="FF0000"/>
                </a:solidFill>
                <a:latin typeface="Agency FB" panose="020B0503020202020204" pitchFamily="34" charset="0"/>
              </a:rPr>
              <a:t>-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real </a:t>
            </a:r>
            <a:r>
              <a:rPr lang="en-US" sz="400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dunyodagi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ma`lumotlarni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to`plash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va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uni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kompyuter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tushunadigan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tilga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o`girish</a:t>
            </a:r>
            <a:r>
              <a:rPr lang="en-US" sz="4000" dirty="0">
                <a:ln/>
                <a:solidFill>
                  <a:schemeClr val="tx1"/>
                </a:solidFill>
                <a:latin typeface="Agency FB" panose="020B0503020202020204" pitchFamily="34" charset="0"/>
              </a:rPr>
              <a:t>.</a:t>
            </a:r>
            <a:endParaRPr lang="en-US" sz="4000" cap="none" spc="0" dirty="0">
              <a:ln/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183F3D9-998B-4887-96F6-1E5F5B6629E6}"/>
              </a:ext>
            </a:extLst>
          </p:cNvPr>
          <p:cNvSpPr/>
          <p:nvPr/>
        </p:nvSpPr>
        <p:spPr>
          <a:xfrm>
            <a:off x="383346" y="2459504"/>
            <a:ext cx="9027354" cy="193899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4000" cap="none" spc="0" dirty="0" err="1">
                <a:ln/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Teskari</a:t>
            </a:r>
            <a:r>
              <a:rPr lang="en-US" sz="4000" cap="none" spc="0" dirty="0">
                <a:ln/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aloqa-</a:t>
            </a:r>
            <a:r>
              <a:rPr lang="en-US" sz="4000" cap="none" spc="0" dirty="0" err="1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kiritilgan</a:t>
            </a:r>
            <a:r>
              <a:rPr lang="en-US" sz="4000" cap="none" spc="0" dirty="0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ma`lumot</a:t>
            </a:r>
            <a:r>
              <a:rPr lang="en-US" sz="4000" cap="none" spc="0" dirty="0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dasturni</a:t>
            </a:r>
            <a:r>
              <a:rPr lang="en-US" sz="4000" cap="none" spc="0" dirty="0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o`zgartiradi</a:t>
            </a:r>
            <a:r>
              <a:rPr lang="en-US" sz="4000" cap="none" spc="0" dirty="0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va</a:t>
            </a:r>
            <a:r>
              <a:rPr lang="en-US" sz="4000" cap="none" spc="0" dirty="0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natija</a:t>
            </a:r>
            <a:r>
              <a:rPr lang="en-US" sz="4000" cap="none" spc="0" dirty="0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hosil</a:t>
            </a:r>
            <a:r>
              <a:rPr lang="en-US" sz="4000" cap="none" spc="0" dirty="0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bo`ladi.Natijani</a:t>
            </a:r>
            <a:r>
              <a:rPr lang="en-US" sz="4000" cap="none" spc="0" dirty="0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chiqarish</a:t>
            </a:r>
            <a:r>
              <a:rPr lang="en-US" sz="4000" cap="none" spc="0" dirty="0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dasturda</a:t>
            </a:r>
            <a:r>
              <a:rPr lang="en-US" sz="4000" cap="none" spc="0" dirty="0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yangi</a:t>
            </a:r>
            <a:r>
              <a:rPr lang="en-US" sz="4000" cap="none" spc="0" dirty="0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kirish</a:t>
            </a:r>
            <a:r>
              <a:rPr lang="en-US" sz="4000" cap="none" spc="0" dirty="0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ma`lumotiga</a:t>
            </a:r>
            <a:r>
              <a:rPr lang="en-US" sz="4000" cap="none" spc="0" dirty="0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4000" cap="none" spc="0" dirty="0" err="1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aylanadi</a:t>
            </a:r>
            <a:r>
              <a:rPr lang="en-US" sz="4000" cap="none" spc="0" dirty="0">
                <a:ln/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.</a:t>
            </a:r>
            <a:endParaRPr lang="ru-RU" sz="4000" cap="none" spc="0" dirty="0">
              <a:ln/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026263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96679C-E4F4-4F45-AC65-2160F9FD4EF7}"/>
              </a:ext>
            </a:extLst>
          </p:cNvPr>
          <p:cNvSpPr txBox="1"/>
          <p:nvPr/>
        </p:nvSpPr>
        <p:spPr>
          <a:xfrm>
            <a:off x="1175656" y="225415"/>
            <a:ext cx="829908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</a:rPr>
              <a:t>Teskari</a:t>
            </a:r>
            <a:r>
              <a:rPr lang="en-US" sz="2800" b="1" dirty="0">
                <a:solidFill>
                  <a:schemeClr val="accent1"/>
                </a:solidFill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</a:rPr>
              <a:t>aloqa</a:t>
            </a:r>
            <a:r>
              <a:rPr lang="en-US" sz="2800" b="1" dirty="0">
                <a:solidFill>
                  <a:schemeClr val="accent1"/>
                </a:solidFill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</a:rPr>
              <a:t>nima</a:t>
            </a:r>
            <a:r>
              <a:rPr lang="en-US" sz="2800" b="1" dirty="0">
                <a:solidFill>
                  <a:schemeClr val="accent1"/>
                </a:solidFill>
              </a:rPr>
              <a:t>?</a:t>
            </a:r>
          </a:p>
          <a:p>
            <a:r>
              <a:rPr lang="en-US" b="1" dirty="0" err="1"/>
              <a:t>Teskari</a:t>
            </a:r>
            <a:r>
              <a:rPr lang="en-US" b="1" dirty="0"/>
              <a:t> </a:t>
            </a:r>
            <a:r>
              <a:rPr lang="en-US" b="1" dirty="0" err="1"/>
              <a:t>aloqa</a:t>
            </a:r>
            <a:r>
              <a:rPr lang="en-US" dirty="0"/>
              <a:t> — </a:t>
            </a:r>
            <a:r>
              <a:rPr lang="en-US" dirty="0" err="1"/>
              <a:t>foydalanuvchi</a:t>
            </a:r>
            <a:r>
              <a:rPr lang="en-US" dirty="0"/>
              <a:t> </a:t>
            </a:r>
            <a:r>
              <a:rPr lang="en-US" dirty="0" err="1"/>
              <a:t>biror</a:t>
            </a:r>
            <a:r>
              <a:rPr lang="en-US" dirty="0"/>
              <a:t> </a:t>
            </a:r>
            <a:r>
              <a:rPr lang="en-US" dirty="0" err="1"/>
              <a:t>amal</a:t>
            </a:r>
            <a:r>
              <a:rPr lang="en-US" dirty="0"/>
              <a:t> </a:t>
            </a:r>
            <a:r>
              <a:rPr lang="en-US" dirty="0" err="1"/>
              <a:t>bajargandan</a:t>
            </a:r>
            <a:r>
              <a:rPr lang="en-US" dirty="0"/>
              <a:t> </a:t>
            </a:r>
            <a:r>
              <a:rPr lang="en-US" dirty="0" err="1"/>
              <a:t>so‘ng</a:t>
            </a:r>
            <a:r>
              <a:rPr lang="en-US" dirty="0"/>
              <a:t>,</a:t>
            </a:r>
          </a:p>
          <a:p>
            <a:r>
              <a:rPr lang="en-US" dirty="0"/>
              <a:t> </a:t>
            </a:r>
            <a:r>
              <a:rPr lang="en-US" b="1" dirty="0" err="1"/>
              <a:t>dastur</a:t>
            </a:r>
            <a:r>
              <a:rPr lang="en-US" b="1" dirty="0"/>
              <a:t> </a:t>
            </a:r>
            <a:r>
              <a:rPr lang="en-US" b="1" dirty="0" err="1"/>
              <a:t>yoki</a:t>
            </a:r>
            <a:r>
              <a:rPr lang="en-US" b="1" dirty="0"/>
              <a:t> </a:t>
            </a:r>
            <a:r>
              <a:rPr lang="en-US" b="1" dirty="0" err="1"/>
              <a:t>tizimning</a:t>
            </a:r>
            <a:r>
              <a:rPr lang="en-US" b="1" dirty="0"/>
              <a:t> </a:t>
            </a:r>
            <a:r>
              <a:rPr lang="en-US" b="1" dirty="0" err="1"/>
              <a:t>unga</a:t>
            </a:r>
            <a:r>
              <a:rPr lang="en-US" b="1" dirty="0"/>
              <a:t> </a:t>
            </a:r>
            <a:r>
              <a:rPr lang="en-US" b="1" dirty="0" err="1"/>
              <a:t>javob</a:t>
            </a:r>
            <a:r>
              <a:rPr lang="en-US" b="1" dirty="0"/>
              <a:t> </a:t>
            </a:r>
            <a:r>
              <a:rPr lang="en-US" b="1" dirty="0" err="1"/>
              <a:t>qaytarishi</a:t>
            </a:r>
            <a:r>
              <a:rPr lang="en-US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Sodda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tushuntirilsa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Foydalanuvchi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bajaradi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dastur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javob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beradi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javob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teskari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aloqa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hisoblanadi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💻 1. Test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dasturidagi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misol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O‘quvchi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savolga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javob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beradi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Savol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+ 3 =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O‘quvchi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javobini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tanlaydi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Dastur: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To‘g‘ri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javob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xabar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beradi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yerda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O‘quvchi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javob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berdi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dastur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javob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qaytardi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To‘g‘ri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javob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!”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degan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xabar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teskari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aloqa</a:t>
            </a:r>
            <a:r>
              <a:rPr lang="en-US" altLang="en-US" sz="3200" b="1" dirty="0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3200" b="1" dirty="0" err="1">
                <a:latin typeface="Arial" panose="020B0604020202020204" pitchFamily="34" charset="0"/>
              </a:rPr>
              <a:t>bo`ladi</a:t>
            </a:r>
            <a:r>
              <a:rPr lang="en-US" altLang="en-US" sz="3200" b="1" dirty="0">
                <a:latin typeface="Arial" panose="020B0604020202020204" pitchFamily="34" charset="0"/>
              </a:rPr>
              <a:t>…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7621CCE-EBE1-49F3-90D3-6C0A928AE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480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1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2" dur="20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1.48148E-6 L 0.00143 -0.4882 " pathEditMode="relative" rAng="0" ptsTypes="AA">
                                      <p:cBhvr>
                                        <p:cTn id="144" dur="20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2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234</TotalTime>
  <Words>308</Words>
  <Application>Microsoft Office PowerPoint</Application>
  <PresentationFormat>Широкоэкранный</PresentationFormat>
  <Paragraphs>34</Paragraphs>
  <Slides>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11" baseType="lpstr">
      <vt:lpstr>Arial Unicode MS</vt:lpstr>
      <vt:lpstr>Agency FB</vt:lpstr>
      <vt:lpstr>Arial</vt:lpstr>
      <vt:lpstr>Calibri</vt:lpstr>
      <vt:lpstr>Trebuchet MS</vt:lpstr>
      <vt:lpstr>Wingdings</vt:lpstr>
      <vt:lpstr>Wingdings 3</vt:lpstr>
      <vt:lpstr>Аспект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Ikrom Rayxonovich</dc:creator>
  <cp:lastModifiedBy>Ikrom Rayxonovich</cp:lastModifiedBy>
  <cp:revision>20</cp:revision>
  <dcterms:created xsi:type="dcterms:W3CDTF">2026-08-24T17:41:30Z</dcterms:created>
  <dcterms:modified xsi:type="dcterms:W3CDTF">2026-08-26T01:51:00Z</dcterms:modified>
</cp:coreProperties>
</file>